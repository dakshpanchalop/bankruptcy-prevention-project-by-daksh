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30B8-6AB3-C878-53FA-1F863B25F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8298" y="1964267"/>
            <a:ext cx="9301828" cy="2421464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Agency FB" panose="020B0503020202020204" pitchFamily="34" charset="0"/>
              </a:rPr>
              <a:t>Bankruptcy Prevention Using Machine Learning</a:t>
            </a:r>
            <a:endParaRPr lang="en-IN" sz="5400" b="1" dirty="0">
              <a:latin typeface="Agency FB" panose="020B0503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78FF6B-AD74-2930-4AE8-9CD0BD4CDC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00" y="4645595"/>
            <a:ext cx="521579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Analysis and Model Building</a:t>
            </a:r>
          </a:p>
        </p:txBody>
      </p:sp>
    </p:spTree>
    <p:extLst>
      <p:ext uri="{BB962C8B-B14F-4D97-AF65-F5344CB8AC3E}">
        <p14:creationId xmlns:p14="http://schemas.microsoft.com/office/powerpoint/2010/main" val="2951719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625C02E-4856-AAE7-D767-06C109AA3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855" y="609600"/>
            <a:ext cx="8554473" cy="1456267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solidFill>
                  <a:schemeClr val="tx1">
                    <a:lumMod val="85000"/>
                  </a:schemeClr>
                </a:solidFill>
                <a:latin typeface="Bahnschrift" panose="020B0502040204020203" pitchFamily="34" charset="0"/>
              </a:rPr>
              <a:t>Introduction</a:t>
            </a:r>
            <a:endParaRPr lang="en-US" sz="6000" b="1" dirty="0">
              <a:solidFill>
                <a:schemeClr val="tx1">
                  <a:lumMod val="8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D6DBAF4-ECD6-E01D-8929-BC8575721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1" y="1966452"/>
            <a:ext cx="10345278" cy="41404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latin typeface="Bahnschrift Condensed" panose="020B0502040204020203" pitchFamily="34" charset="0"/>
              </a:rPr>
              <a:t>Objective  :-</a:t>
            </a:r>
          </a:p>
          <a:p>
            <a:pPr lvl="5">
              <a:buFont typeface="Wingdings" panose="05000000000000000000" pitchFamily="2" charset="2"/>
              <a:buChar char="Ø"/>
            </a:pPr>
            <a:r>
              <a:rPr lang="en-US" sz="2400" dirty="0">
                <a:latin typeface="Arial Narrow" panose="020B0606020202030204" pitchFamily="34" charset="0"/>
              </a:rPr>
              <a:t>Predict bankruptcy using machine learning models.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3200" b="1" dirty="0">
                <a:latin typeface="Bahnschrift Condensed" panose="020B0502040204020203" pitchFamily="34" charset="0"/>
              </a:rPr>
              <a:t>Dataset: - </a:t>
            </a:r>
          </a:p>
          <a:p>
            <a:pPr lvl="5">
              <a:buFont typeface="Wingdings" panose="05000000000000000000" pitchFamily="2" charset="2"/>
              <a:buChar char="Ø"/>
            </a:pPr>
            <a:r>
              <a:rPr lang="en-IN" sz="2400" dirty="0">
                <a:latin typeface="Arial Narrow" panose="020B0606020202030204" pitchFamily="34" charset="0"/>
              </a:rPr>
              <a:t>Bankruptcy prevention data.</a:t>
            </a:r>
            <a:endParaRPr lang="en-IN" sz="1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20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40ED5-CE45-7B3D-0AB9-305156AA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+mn-lt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46169-5C78-9591-A745-BFB230D2E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Arial Rounded MT Bold" panose="020F0704030504030204" pitchFamily="34" charset="0"/>
              </a:rPr>
              <a:t>Source</a:t>
            </a:r>
            <a:r>
              <a:rPr lang="en-IN" sz="2400" dirty="0">
                <a:latin typeface="Arial Rounded MT Bold" panose="020F0704030504030204" pitchFamily="34" charset="0"/>
              </a:rPr>
              <a:t>: "bankruptcy-prevention.xlsx"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Arial Rounded MT Bold" panose="020F0704030504030204" pitchFamily="34" charset="0"/>
              </a:rPr>
              <a:t>Features</a:t>
            </a:r>
            <a:r>
              <a:rPr lang="en-IN" sz="2400" dirty="0">
                <a:latin typeface="Arial Rounded MT Bold" panose="020F0704030504030204" pitchFamily="34" charset="0"/>
              </a:rPr>
              <a:t>: Financial flexibility, credibility, industrial risk, etc.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Arial Rounded MT Bold" panose="020F0704030504030204" pitchFamily="34" charset="0"/>
              </a:rPr>
              <a:t>Target</a:t>
            </a:r>
            <a:r>
              <a:rPr lang="en-IN" sz="2400" dirty="0">
                <a:latin typeface="Arial Rounded MT Bold" panose="020F0704030504030204" pitchFamily="34" charset="0"/>
              </a:rPr>
              <a:t>: Bankruptcy status (binary: 0 = bankruptcy, 1 = non-bankruptcy).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5412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EC215-D3B6-2B54-E7BF-E2312DD8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latin typeface="Arial Narrow" panose="020B0606020202030204" pitchFamily="34" charset="0"/>
              </a:rPr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286E6-69B7-4453-0551-02080EB9D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Summary statistics of the dataset (mean, median, standard deviation, etc.).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F6CC2-F450-CDDB-5607-93A5BDC3D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01" y="2937387"/>
            <a:ext cx="8402223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954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B71B-5DE2-2D4C-12D7-708C861F1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latin typeface="Aptos Display" panose="020B0004020202020204" pitchFamily="34" charset="0"/>
              </a:rPr>
              <a:t>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8121D-B5C7-7C32-B354-6F5310A95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Check for Missing Values</a:t>
            </a:r>
            <a:r>
              <a:rPr lang="en-US" sz="2400" dirty="0"/>
              <a:t>: Summary of any missing values in the dataset.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51EE9-61D0-33E2-7585-BE3352B62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744" y="3184992"/>
            <a:ext cx="5959017" cy="332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0BB4-6184-C0EF-3FCD-C706FF4E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Target Variable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EB326-E5B0-ACC8-FEC5-D359C8CBA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17603"/>
            <a:ext cx="10131425" cy="3649133"/>
          </a:xfrm>
        </p:spPr>
        <p:txBody>
          <a:bodyPr>
            <a:normAutofit/>
          </a:bodyPr>
          <a:lstStyle/>
          <a:p>
            <a:r>
              <a:rPr lang="en-US" sz="2000" b="1" dirty="0"/>
              <a:t>Transformation</a:t>
            </a:r>
            <a:r>
              <a:rPr lang="en-US" sz="2000" dirty="0"/>
              <a:t>: Explanation of how the target variable was transformed (bankruptcy = 0, non-bankruptcy = 1).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0D7ED-B649-F88A-28FF-88D5933B1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973" y="3076728"/>
            <a:ext cx="8519819" cy="359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76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A5C0-B89C-3711-9EEE-005DA143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Exploratory Data Analysis (EDA)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85CDFB5-7B8D-CF21-68C7-E2F0E25EDF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391908"/>
            <a:ext cx="10202921" cy="3149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Overview of the exploratory data analysis performed.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 Plots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Visualize different features against the target variable.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 Tabs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Show relationships between categorical variables. </a:t>
            </a:r>
          </a:p>
        </p:txBody>
      </p:sp>
    </p:spTree>
    <p:extLst>
      <p:ext uri="{BB962C8B-B14F-4D97-AF65-F5344CB8AC3E}">
        <p14:creationId xmlns:p14="http://schemas.microsoft.com/office/powerpoint/2010/main" val="1386194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5879-BF28-2F75-AB03-0B350DF2F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88" y="241300"/>
            <a:ext cx="10131425" cy="145626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Arial Rounded MT Bold" panose="020F0704030504030204" pitchFamily="34" charset="0"/>
              </a:rPr>
              <a:t>Histograms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047A25-A556-C790-B741-24CFE185B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778" y="241300"/>
            <a:ext cx="10131425" cy="364913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Histograms</a:t>
            </a:r>
            <a:r>
              <a:rPr lang="en-US" sz="2400" dirty="0">
                <a:latin typeface="Arial Rounded MT Bold" panose="020F0704030504030204" pitchFamily="34" charset="0"/>
              </a:rPr>
              <a:t>: Display histograms for the numerical features.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865414DB-0DF1-F819-A80A-767236E19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94" y="2649046"/>
            <a:ext cx="8898192" cy="410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812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FA9CD-352E-CA39-F856-2B0ABA39A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65471"/>
            <a:ext cx="10131425" cy="145626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Arial Rounded MT Bold" panose="020F0704030504030204" pitchFamily="34" charset="0"/>
              </a:rPr>
              <a:t>Boxplots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1D87D7-1A89-A6B1-6ED0-0726EAE3A0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446434"/>
            <a:ext cx="1080590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Boxplots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: Display box plots for numerical columns to check for outliers.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A0B23B9E-2265-80A1-0B54-9E6CD2AF2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012" y="2370031"/>
            <a:ext cx="8367253" cy="441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284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B66E-52CA-7FE2-7FCF-C09B93BA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0"/>
            <a:ext cx="10131425" cy="145626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b="1" dirty="0" err="1">
                <a:latin typeface="Arial Rounded MT Bold" panose="020F0704030504030204" pitchFamily="34" charset="0"/>
              </a:rPr>
              <a:t>Pairplots</a:t>
            </a:r>
            <a:endParaRPr lang="en-IN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C5E097-700A-17AE-A79E-AD560A3C00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5231" y="1456267"/>
            <a:ext cx="1100153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Pairplots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: Display pair plots to visualize relationships between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7CAA4D71-5C03-A979-A362-E116D65AA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890" y="2045110"/>
            <a:ext cx="10009239" cy="4729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851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3C47-7159-0772-BB7B-93889A00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10131425" cy="145626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Correlation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185B0-4B36-264E-72EF-BD5B56008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2492835"/>
            <a:ext cx="4493343" cy="31115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Correlation Matrix</a:t>
            </a:r>
            <a:r>
              <a:rPr lang="en-US" sz="2400" dirty="0"/>
              <a:t>: Display and explain the correlation matrix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9BD3BB2-0256-F4A6-0A99-F724257A2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917" y="1062429"/>
            <a:ext cx="6352150" cy="566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506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02D3-FC0F-44AC-AEAA-3FA06D98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Arial Rounded MT Bold" panose="020F0704030504030204" pitchFamily="34" charset="0"/>
              </a:rPr>
              <a:t>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9FBA50-2288-B33B-14FE-20F550778C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8485" y="1712734"/>
            <a:ext cx="11099513" cy="3259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Briefly explain the features and target variable used for model building.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(features),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(target variable).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102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EAAC-57BD-8527-D6B0-6A60B50A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330" y="117987"/>
            <a:ext cx="10131425" cy="145626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Train-Test Split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FD7607-4B58-EC4D-ACEB-467D732B4C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6095" y="1748404"/>
            <a:ext cx="117359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Train-Test Split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Explain the splitting of data into training and test sets.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04F4DB-B848-A184-BF40-A2C3210C7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510" y="2709766"/>
            <a:ext cx="4050890" cy="392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36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27641-7AA6-6E5B-C3AD-0D5EA6DD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Logistic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CEFE0-B3D9-EAE8-40A7-542E893D8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37733"/>
            <a:ext cx="11132573" cy="1604023"/>
          </a:xfrm>
        </p:spPr>
        <p:txBody>
          <a:bodyPr>
            <a:normAutofit/>
          </a:bodyPr>
          <a:lstStyle/>
          <a:p>
            <a:r>
              <a:rPr lang="en-US" sz="2400" b="1" dirty="0"/>
              <a:t>Logistic Regression</a:t>
            </a:r>
            <a:r>
              <a:rPr lang="en-US" sz="2400" dirty="0"/>
              <a:t>: Overview of the logistic regression model.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3CDE6-CFC0-7AF2-3E4C-3A9856157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52" y="2941756"/>
            <a:ext cx="5420907" cy="287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35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5E63-A384-46DB-0975-B6E60C84D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27" y="0"/>
            <a:ext cx="10131425" cy="145626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Regularization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B8C2F-16C8-B0A1-C4F3-C120E857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6" y="1220294"/>
            <a:ext cx="10131425" cy="46200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Aptos Display" panose="020B0004020202020204" pitchFamily="34" charset="0"/>
              </a:rPr>
              <a:t>Regularization</a:t>
            </a:r>
            <a:r>
              <a:rPr lang="en-US" sz="2600" dirty="0">
                <a:latin typeface="Aptos Display" panose="020B0004020202020204" pitchFamily="34" charset="0"/>
              </a:rPr>
              <a:t>: Explanation of L1 (Lasso) and L2 (Ridge) regularization.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b="1" dirty="0"/>
              <a:t>Lasso</a:t>
            </a:r>
            <a:r>
              <a:rPr lang="en-IN" sz="2600" dirty="0"/>
              <a:t>:     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600" dirty="0"/>
          </a:p>
          <a:p>
            <a:pPr>
              <a:buFont typeface="Wingdings" panose="05000000000000000000" pitchFamily="2" charset="2"/>
              <a:buChar char="Ø"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>
              <a:buFont typeface="Wingdings" panose="05000000000000000000" pitchFamily="2" charset="2"/>
              <a:buChar char="Ø"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/>
              <a:t> </a:t>
            </a:r>
            <a:r>
              <a:rPr lang="en-IN" sz="3200" b="1" dirty="0"/>
              <a:t>Ridge</a:t>
            </a:r>
            <a:r>
              <a:rPr lang="en-IN" sz="3200" dirty="0"/>
              <a:t>:</a:t>
            </a:r>
          </a:p>
          <a:p>
            <a:pPr marL="0" indent="0">
              <a:buNone/>
            </a:pPr>
            <a:r>
              <a:rPr lang="en-IN" sz="1600" dirty="0">
                <a:latin typeface="Aptos Display" panose="020B0004020202020204" pitchFamily="34" charset="0"/>
              </a:rPr>
              <a:t>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5AA125-D618-18C8-099B-A7DAF3B44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803" y="2542870"/>
            <a:ext cx="4235248" cy="17722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539AF3-BB34-42E9-6BCD-EDCBA628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803" y="4878201"/>
            <a:ext cx="4117262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25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86E02-3784-9091-22EC-2490C0B4B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K-Nearest </a:t>
            </a:r>
            <a:r>
              <a:rPr lang="en-IN" dirty="0" err="1">
                <a:latin typeface="Arial Rounded MT Bold" panose="020F0704030504030204" pitchFamily="34" charset="0"/>
              </a:rPr>
              <a:t>Neighbors</a:t>
            </a:r>
            <a:r>
              <a:rPr lang="en-IN" dirty="0">
                <a:latin typeface="Arial Rounded MT Bold" panose="020F0704030504030204" pitchFamily="34" charset="0"/>
              </a:rPr>
              <a:t> (KNN)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E51AE-95CA-0B2E-7E4E-362298E47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76596"/>
            <a:ext cx="10131425" cy="36491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KNN Model</a:t>
            </a:r>
            <a:r>
              <a:rPr lang="en-US" sz="2400" dirty="0"/>
              <a:t>: Overview of the KNN model.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D3438-3DCC-FEE6-0E1D-B6BBE738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046" y="3156974"/>
            <a:ext cx="6373044" cy="30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53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35C8-041E-080D-CC06-097D7BF4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645" y="167149"/>
            <a:ext cx="10131425" cy="145626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Support Vector Machine (SVM)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9C82B-290D-5CC1-B40A-1445D59B9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78" y="1759113"/>
            <a:ext cx="9318127" cy="453157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SVM Model</a:t>
            </a:r>
            <a:r>
              <a:rPr lang="en-US" sz="2000" dirty="0"/>
              <a:t>: Overview of the SVM model and different kernels (linear, RBF, polynomial).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Linear Kernel :-</a:t>
            </a:r>
          </a:p>
          <a:p>
            <a:pPr marL="0" indent="0">
              <a:buNone/>
            </a:pPr>
            <a:r>
              <a:rPr lang="en-US" sz="2000" dirty="0"/>
              <a:t>                               The linear kernel is used when the data is linearly separable.</a:t>
            </a:r>
          </a:p>
          <a:p>
            <a:pPr marL="0" indent="0">
              <a:buNone/>
            </a:pPr>
            <a:r>
              <a:rPr lang="en-US" sz="2000" dirty="0"/>
              <a:t>   </a:t>
            </a:r>
          </a:p>
          <a:p>
            <a:pPr marL="0" indent="0">
              <a:buNone/>
            </a:pPr>
            <a:r>
              <a:rPr lang="en-US" sz="2000" dirty="0"/>
              <a:t>            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F4F6F-17D3-7C27-BB5A-F84126D97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202" y="4505275"/>
            <a:ext cx="2742034" cy="156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69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1B08E-C141-2565-1997-1B34F4F84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4" y="498853"/>
            <a:ext cx="10581252" cy="56830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Radial Basis Function (RBF) Kernel :-</a:t>
            </a:r>
          </a:p>
          <a:p>
            <a:pPr marL="0" indent="0">
              <a:buNone/>
            </a:pPr>
            <a:r>
              <a:rPr lang="en-US" sz="2400" b="1" dirty="0"/>
              <a:t>                                  </a:t>
            </a:r>
            <a:r>
              <a:rPr lang="en-US" sz="2400" dirty="0"/>
              <a:t>The RBF kernel is a popular choice for non-linear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Polynomial Kernel</a:t>
            </a:r>
          </a:p>
          <a:p>
            <a:pPr marL="0" indent="0">
              <a:buNone/>
            </a:pPr>
            <a:r>
              <a:rPr lang="en-US" sz="2400" dirty="0"/>
              <a:t>                                  The polynomial kernel is used for </a:t>
            </a:r>
            <a:r>
              <a:rPr lang="en-US" sz="2400" dirty="0" err="1"/>
              <a:t>polynomially</a:t>
            </a:r>
            <a:r>
              <a:rPr lang="en-US" sz="2400" dirty="0"/>
              <a:t> separable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16A0D-F991-EB4D-82AE-F4ADB4BAA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39" y="1321751"/>
            <a:ext cx="3123116" cy="1561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F4CF71-E567-8466-1465-69165B761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841" y="4349038"/>
            <a:ext cx="3535275" cy="150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13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31A8-E6BB-75A4-EDF4-4849187D3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latin typeface="Arial Rounded MT Bold" panose="020F0704030504030204" pitchFamily="34" charset="0"/>
              </a:rPr>
              <a:t>Model Comparison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A6C29-683B-ECB0-62B4-3B59392DF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Best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Selected Model</a:t>
            </a:r>
            <a:r>
              <a:rPr lang="en-US" sz="2000" dirty="0"/>
              <a:t>: Polynomial SVM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Reason for Selection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Highest Accuracy: 0.86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Best Precision: 0.82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Best Recall: 0.89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Best F1-Score: 0.85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Highest ROC-AUC: 0.91</a:t>
            </a:r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601739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7CBF-B87E-6145-93E1-DF7C15686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latin typeface="Arial Black" panose="020B0A04020102020204" pitchFamily="34" charset="0"/>
              </a:rPr>
              <a:t>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4F32D-5D1C-43C8-ACF9-0394C79FA81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6748" y="1337733"/>
            <a:ext cx="10325100" cy="47783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Overall Performance</a:t>
            </a:r>
            <a:r>
              <a:rPr lang="en-US" sz="2000" dirty="0"/>
              <a:t>: </a:t>
            </a:r>
          </a:p>
          <a:p>
            <a:pPr lvl="5">
              <a:buFont typeface="Wingdings" panose="05000000000000000000" pitchFamily="2" charset="2"/>
              <a:buChar char="ü"/>
            </a:pPr>
            <a:r>
              <a:rPr lang="en-US" sz="1800" dirty="0"/>
              <a:t>Summarize the overall performance of the models.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Best Performing Model</a:t>
            </a:r>
            <a:r>
              <a:rPr lang="en-US" sz="2000" dirty="0"/>
              <a:t>: </a:t>
            </a:r>
          </a:p>
          <a:p>
            <a:pPr lvl="5">
              <a:buFont typeface="Wingdings" panose="05000000000000000000" pitchFamily="2" charset="2"/>
              <a:buChar char="ü"/>
            </a:pPr>
            <a:r>
              <a:rPr lang="en-US" sz="1800" dirty="0"/>
              <a:t>Polynomial SVM, which achieved the highest scores across all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Implications</a:t>
            </a:r>
            <a:r>
              <a:rPr lang="en-US" sz="2000" dirty="0"/>
              <a:t>: </a:t>
            </a:r>
            <a:endParaRPr lang="en-US" sz="2800" dirty="0"/>
          </a:p>
          <a:p>
            <a:pPr lvl="5">
              <a:buFont typeface="Wingdings" panose="05000000000000000000" pitchFamily="2" charset="2"/>
              <a:buChar char="ü"/>
            </a:pPr>
            <a:r>
              <a:rPr lang="en-US" sz="1800" dirty="0"/>
              <a:t>Discuss the practical implications of the model's predictions for preventing bankruptcy.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580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F46A-DF6A-D49C-A779-644BFD10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Arial Rounded MT Bold" panose="020F0704030504030204" pitchFamily="34" charset="0"/>
              </a:rPr>
              <a:t>Model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1EF12-E9B4-308B-9843-F4C258AA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827773" cy="36491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Introduction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400" b="1" dirty="0"/>
              <a:t>Objective</a:t>
            </a:r>
            <a:r>
              <a:rPr lang="en-US" sz="2400" dirty="0"/>
              <a:t>: </a:t>
            </a:r>
            <a:r>
              <a:rPr lang="en-US" sz="1600" dirty="0"/>
              <a:t>Deploy the Support Vector Machine (SVM) model for bankruptcy prediction using </a:t>
            </a:r>
            <a:r>
              <a:rPr lang="en-US" sz="1600" dirty="0" err="1"/>
              <a:t>Streamlit</a:t>
            </a:r>
            <a:r>
              <a:rPr lang="en-US" sz="1600" dirty="0"/>
              <a:t>.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2400" b="1" dirty="0"/>
              <a:t>Tool</a:t>
            </a:r>
            <a:r>
              <a:rPr lang="en-US" sz="1600" dirty="0"/>
              <a:t>: </a:t>
            </a:r>
          </a:p>
          <a:p>
            <a:pPr marL="1371600" lvl="3" indent="0">
              <a:buNone/>
            </a:pPr>
            <a:r>
              <a:rPr lang="en-US" sz="1600" dirty="0">
                <a:latin typeface="Arial Rounded MT Bold" panose="020F0704030504030204" pitchFamily="34" charset="0"/>
              </a:rPr>
              <a:t>			</a:t>
            </a:r>
            <a:r>
              <a:rPr lang="en-US" sz="3200" dirty="0">
                <a:latin typeface="Arial Rounded MT Bold" panose="020F0704030504030204" pitchFamily="34" charset="0"/>
              </a:rPr>
              <a:t>(“ </a:t>
            </a:r>
            <a:r>
              <a:rPr lang="en-US" sz="2400" u="sng" dirty="0" err="1">
                <a:latin typeface="Arial Rounded MT Bold" panose="020F0704030504030204" pitchFamily="34" charset="0"/>
              </a:rPr>
              <a:t>Streamlit</a:t>
            </a:r>
            <a:r>
              <a:rPr lang="en-US" sz="1600" dirty="0">
                <a:latin typeface="Arial Rounded MT Bold" panose="020F0704030504030204" pitchFamily="34" charset="0"/>
              </a:rPr>
              <a:t> </a:t>
            </a:r>
            <a:r>
              <a:rPr lang="en-US" sz="3200" dirty="0">
                <a:latin typeface="Arial Rounded MT Bold" panose="020F0704030504030204" pitchFamily="34" charset="0"/>
              </a:rPr>
              <a:t>“)</a:t>
            </a:r>
            <a:r>
              <a:rPr lang="en-US" sz="1600" dirty="0"/>
              <a:t> - An open-source app framework for machine learning and data 													science projects.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696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4A3A0D-6DBA-7D3C-8EDE-2AF251F8A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" y="184761"/>
            <a:ext cx="11938734" cy="63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1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DA11-108F-7074-313F-09DC13EC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User Interface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D1FDBE5-B81D-9DCD-EB00-E0F8111F55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750644"/>
            <a:ext cx="10837903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"Model Deployment: Bankruptcy using Support Vector Machine"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Sidebar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Allows users to input parameters:</a:t>
            </a:r>
          </a:p>
          <a:p>
            <a:pPr lvl="3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Industrial Risk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Options - 0 (low risk), 0.5 (medium risk), 1 (high risk)</a:t>
            </a:r>
          </a:p>
          <a:p>
            <a:pPr lvl="3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Management Risk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Options - 0 (low risk), 0.5 (medium risk), 1 (high risk)</a:t>
            </a:r>
          </a:p>
          <a:p>
            <a:pPr lvl="3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Financial Flexibility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Options - 0 (low flexibility), 0.5 (medium flexibility), 1 (high flexibility)</a:t>
            </a:r>
          </a:p>
          <a:p>
            <a:pPr lvl="3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Credibility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Options - 0 (low credibility), 0.5 (medium credibility), 1 (high credibility)</a:t>
            </a:r>
          </a:p>
          <a:p>
            <a:pPr lvl="3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Competitiveness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Options - 0 (low competitiveness), 0.5 (medium competitiveness), 1 (high competitiveness)</a:t>
            </a:r>
          </a:p>
          <a:p>
            <a:pPr lvl="3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Operating Risk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 Options - 0 (low risk), 0.5 (medium risk), 1 (high risk)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302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8F5A51-3C64-CB5E-885D-935D1AA00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818" y="884903"/>
            <a:ext cx="8547050" cy="4719484"/>
          </a:xfrm>
        </p:spPr>
      </p:pic>
    </p:spTree>
    <p:extLst>
      <p:ext uri="{BB962C8B-B14F-4D97-AF65-F5344CB8AC3E}">
        <p14:creationId xmlns:p14="http://schemas.microsoft.com/office/powerpoint/2010/main" val="3030724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9DDE-D8A1-862E-DCBB-62D96FCD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Data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86E9E-1040-1C81-D318-D895A46E9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Descriptions</a:t>
            </a:r>
            <a:r>
              <a:rPr lang="en-US" dirty="0"/>
              <a:t>: Clarifies what each input parameter represents: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Industrial Risk</a:t>
            </a:r>
            <a:r>
              <a:rPr lang="en-US" dirty="0"/>
              <a:t>: 0=low risk, 0.5=medium risk, 1=high risk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Management Risk</a:t>
            </a:r>
            <a:r>
              <a:rPr lang="en-US" dirty="0"/>
              <a:t>: 0=low risk, 0.5=medium risk, 1=high risk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Financial Flexibility</a:t>
            </a:r>
            <a:r>
              <a:rPr lang="en-US" dirty="0"/>
              <a:t>: 0=low flexibility, 0.5=medium flexibility, 1=high flexibility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Credibility</a:t>
            </a:r>
            <a:r>
              <a:rPr lang="en-US" dirty="0"/>
              <a:t>: 0=low credibility, 0.5=medium credibility, 1=high credibility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Competitiveness</a:t>
            </a:r>
            <a:r>
              <a:rPr lang="en-US" dirty="0"/>
              <a:t>: 0=low competitiveness, 0.5=medium competitiveness, 1=high competitiveness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Operating Risk</a:t>
            </a:r>
            <a:r>
              <a:rPr lang="en-US" dirty="0"/>
              <a:t>: 0=low risk, 0.5=medium risk, 1=high risk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785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3E2C88-E751-142C-37BA-FCB3E7E39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890" y="786581"/>
            <a:ext cx="9520386" cy="4227871"/>
          </a:xfrm>
        </p:spPr>
      </p:pic>
    </p:spTree>
    <p:extLst>
      <p:ext uri="{BB962C8B-B14F-4D97-AF65-F5344CB8AC3E}">
        <p14:creationId xmlns:p14="http://schemas.microsoft.com/office/powerpoint/2010/main" val="727880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CB12-D1D9-6C49-E3C0-2CDC2AB9C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24" y="117987"/>
            <a:ext cx="10131425" cy="145626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User Input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0AE050-91AA-9AD9-BC00-57BAE87447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5136" y="1294707"/>
            <a:ext cx="6685936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Display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Shows the user input parameters.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Ensures proper formatting and consistency:</a:t>
            </a:r>
          </a:p>
          <a:p>
            <a:pPr lvl="4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Stripping whitespace from column names.</a:t>
            </a:r>
          </a:p>
          <a:p>
            <a:pPr lvl="4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Mapping 'bankruptcy' class to 0 and 'non-bankruptcy' class to 1.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C565ED-5B19-A54D-686B-C6F029F11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4" y="3997613"/>
            <a:ext cx="9050013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0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7B31-8558-BB4C-580A-2278DDC66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91" y="0"/>
            <a:ext cx="10131425" cy="145626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latin typeface="Arial Rounded MT Bold" panose="020F0704030504030204" pitchFamily="34" charset="0"/>
              </a:rPr>
              <a:t>Model Training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3749EB-BE75-6181-58B7-80E0BC64B3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5365" y="1456267"/>
            <a:ext cx="9819676" cy="225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Matrix (X)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Includes all features except the target variable.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 Variable (Y)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binary outcome indicating bankruptcy (1) or not (0).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SVM with a polynomial kernel, trained on the provided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Determines the probability of bankruptcy based on user inputs. </a:t>
            </a:r>
          </a:p>
        </p:txBody>
      </p:sp>
    </p:spTree>
    <p:extLst>
      <p:ext uri="{BB962C8B-B14F-4D97-AF65-F5344CB8AC3E}">
        <p14:creationId xmlns:p14="http://schemas.microsoft.com/office/powerpoint/2010/main" val="1834714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44D6-9498-0920-CB37-192D8359C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latin typeface="Arial Black" panose="020B0A04020102020204" pitchFamily="34" charset="0"/>
              </a:rPr>
              <a:t>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8F39A7-990C-4656-51AD-786F5D1F3C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0665" y="1694985"/>
            <a:ext cx="80550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Bankruptcy 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Displays 'Yes' if the predicted probability of bankruptcy is greater than 0.5, otherwise 'No'.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Probability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Provides the detailed probability scores for each class.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A49EBB-7BFC-FE44-0C24-ABBA5672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847" y="3613368"/>
            <a:ext cx="5799785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12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64A0-8AF7-2CD4-6A06-7B693ABAD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99071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Castellar" panose="020A0402060406010301" pitchFamily="18" charset="0"/>
              </a:rPr>
              <a:t>THANK YOU</a:t>
            </a:r>
            <a:endParaRPr lang="en-IN" sz="4800" b="1" dirty="0"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9506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501</TotalTime>
  <Words>888</Words>
  <Application>Microsoft Office PowerPoint</Application>
  <PresentationFormat>Widescreen</PresentationFormat>
  <Paragraphs>143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Agency FB</vt:lpstr>
      <vt:lpstr>Aptos Display</vt:lpstr>
      <vt:lpstr>Arial</vt:lpstr>
      <vt:lpstr>Arial Black</vt:lpstr>
      <vt:lpstr>Arial Narrow</vt:lpstr>
      <vt:lpstr>Arial Rounded MT Bold</vt:lpstr>
      <vt:lpstr>Bahnschrift</vt:lpstr>
      <vt:lpstr>Bahnschrift Condensed</vt:lpstr>
      <vt:lpstr>Calibri</vt:lpstr>
      <vt:lpstr>Calibri Light</vt:lpstr>
      <vt:lpstr>Castellar</vt:lpstr>
      <vt:lpstr>Wingdings</vt:lpstr>
      <vt:lpstr>Celestial</vt:lpstr>
      <vt:lpstr>Bankruptcy Prevention Using Machine Learning</vt:lpstr>
      <vt:lpstr>Introduction</vt:lpstr>
      <vt:lpstr>Dataset Overview</vt:lpstr>
      <vt:lpstr>Descriptive Statistics</vt:lpstr>
      <vt:lpstr>Missing Values</vt:lpstr>
      <vt:lpstr>Target Variable Transformation</vt:lpstr>
      <vt:lpstr>Exploratory Data Analysis (EDA)</vt:lpstr>
      <vt:lpstr>Histograms</vt:lpstr>
      <vt:lpstr>Boxplots</vt:lpstr>
      <vt:lpstr>Pairplots</vt:lpstr>
      <vt:lpstr>Correlation Matrix</vt:lpstr>
      <vt:lpstr>Feature Engineering</vt:lpstr>
      <vt:lpstr>Train-Test Split</vt:lpstr>
      <vt:lpstr>Logistic Regression Model</vt:lpstr>
      <vt:lpstr>Regularization Techniques</vt:lpstr>
      <vt:lpstr>K-Nearest Neighbors (KNN) Model</vt:lpstr>
      <vt:lpstr>Support Vector Machine (SVM) Model</vt:lpstr>
      <vt:lpstr>PowerPoint Presentation</vt:lpstr>
      <vt:lpstr>Model Comparison and Conclusion</vt:lpstr>
      <vt:lpstr>Conclusion </vt:lpstr>
      <vt:lpstr>Model Deployment</vt:lpstr>
      <vt:lpstr>PowerPoint Presentation</vt:lpstr>
      <vt:lpstr>User Interface</vt:lpstr>
      <vt:lpstr>PowerPoint Presentation</vt:lpstr>
      <vt:lpstr>Data Summary</vt:lpstr>
      <vt:lpstr>PowerPoint Presentation</vt:lpstr>
      <vt:lpstr>User Input</vt:lpstr>
      <vt:lpstr>Model Training</vt:lpstr>
      <vt:lpstr>Output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Gurav</dc:creator>
  <cp:lastModifiedBy>Daksh Panchal</cp:lastModifiedBy>
  <cp:revision>25</cp:revision>
  <dcterms:created xsi:type="dcterms:W3CDTF">2024-07-24T04:42:43Z</dcterms:created>
  <dcterms:modified xsi:type="dcterms:W3CDTF">2025-05-02T10:04:18Z</dcterms:modified>
</cp:coreProperties>
</file>